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69" r:id="rId4"/>
    <p:sldId id="258" r:id="rId5"/>
    <p:sldId id="259" r:id="rId6"/>
    <p:sldId id="261" r:id="rId7"/>
    <p:sldId id="260" r:id="rId8"/>
    <p:sldId id="262" r:id="rId9"/>
    <p:sldId id="263" r:id="rId10"/>
    <p:sldId id="266" r:id="rId11"/>
    <p:sldId id="265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6A65-5C0B-4003-9587-440B2A12EFBD}" type="datetimeFigureOut">
              <a:rPr lang="en-US" smtClean="0"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B5CA1-CBFE-4B93-9A93-AC97954157A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6A65-5C0B-4003-9587-440B2A12EFBD}" type="datetimeFigureOut">
              <a:rPr lang="en-US" smtClean="0"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B5CA1-CBFE-4B93-9A93-AC97954157A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6A65-5C0B-4003-9587-440B2A12EFBD}" type="datetimeFigureOut">
              <a:rPr lang="en-US" smtClean="0"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B5CA1-CBFE-4B93-9A93-AC97954157A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6A65-5C0B-4003-9587-440B2A12EFBD}" type="datetimeFigureOut">
              <a:rPr lang="en-US" smtClean="0"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B5CA1-CBFE-4B93-9A93-AC97954157A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6A65-5C0B-4003-9587-440B2A12EFBD}" type="datetimeFigureOut">
              <a:rPr lang="en-US" smtClean="0"/>
              <a:t>5/24/2018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B5CA1-CBFE-4B93-9A93-AC97954157A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6A65-5C0B-4003-9587-440B2A12EFBD}" type="datetimeFigureOut">
              <a:rPr lang="en-US" smtClean="0"/>
              <a:t>5/24/2018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B5CA1-CBFE-4B93-9A93-AC97954157A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6A65-5C0B-4003-9587-440B2A12EFBD}" type="datetimeFigureOut">
              <a:rPr lang="en-US" smtClean="0"/>
              <a:t>5/24/2018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B5CA1-CBFE-4B93-9A93-AC97954157A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6A65-5C0B-4003-9587-440B2A12EFBD}" type="datetimeFigureOut">
              <a:rPr lang="en-US" smtClean="0"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B5CA1-CBFE-4B93-9A93-AC97954157A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6A65-5C0B-4003-9587-440B2A12EFBD}" type="datetimeFigureOut">
              <a:rPr lang="en-US" smtClean="0"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B5CA1-CBFE-4B93-9A93-AC97954157A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6A65-5C0B-4003-9587-440B2A12EFBD}" type="datetimeFigureOut">
              <a:rPr lang="en-US" smtClean="0"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B5CA1-CBFE-4B93-9A93-AC97954157A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6A65-5C0B-4003-9587-440B2A12EFBD}" type="datetimeFigureOut">
              <a:rPr lang="en-US" smtClean="0"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B5CA1-CBFE-4B93-9A93-AC97954157A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54A6A65-5C0B-4003-9587-440B2A12EFBD}" type="datetimeFigureOut">
              <a:rPr lang="en-US" smtClean="0"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257B5CA1-CBFE-4B93-9A93-AC97954157A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Predicting credit card default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724400"/>
            <a:ext cx="6400800" cy="1752600"/>
          </a:xfrm>
        </p:spPr>
        <p:txBody>
          <a:bodyPr>
            <a:normAutofit/>
          </a:bodyPr>
          <a:lstStyle/>
          <a:p>
            <a:r>
              <a:rPr lang="en-US" dirty="0"/>
              <a:t>Data 621 – Final Project</a:t>
            </a:r>
          </a:p>
          <a:p>
            <a:r>
              <a:rPr lang="en-US" dirty="0"/>
              <a:t>Group #2</a:t>
            </a:r>
          </a:p>
          <a:p>
            <a:r>
              <a:rPr lang="en-US" dirty="0"/>
              <a:t>5/25/2018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581400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Comparative Analysis of Parameter and Nonparametric Classification Techniques </a:t>
            </a:r>
          </a:p>
        </p:txBody>
      </p:sp>
    </p:spTree>
    <p:extLst>
      <p:ext uri="{BB962C8B-B14F-4D97-AF65-F5344CB8AC3E}">
        <p14:creationId xmlns:p14="http://schemas.microsoft.com/office/powerpoint/2010/main" val="3956204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676400"/>
          </a:xfrm>
        </p:spPr>
        <p:txBody>
          <a:bodyPr/>
          <a:lstStyle/>
          <a:p>
            <a:r>
              <a:rPr lang="en-US" dirty="0"/>
              <a:t>Build and explore multiple classification models to predict default on credit card payment</a:t>
            </a:r>
          </a:p>
          <a:p>
            <a:r>
              <a:rPr lang="en-US" dirty="0"/>
              <a:t>Determine the best performing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715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Valerie Briot</a:t>
            </a:r>
          </a:p>
          <a:p>
            <a:r>
              <a:rPr lang="en-US" dirty="0"/>
              <a:t>Keith Folsom</a:t>
            </a:r>
          </a:p>
          <a:p>
            <a:r>
              <a:rPr lang="en-US" dirty="0"/>
              <a:t>Sharon Morris</a:t>
            </a:r>
          </a:p>
          <a:p>
            <a:r>
              <a:rPr lang="en-US" dirty="0"/>
              <a:t>Brian Kreis</a:t>
            </a:r>
          </a:p>
          <a:p>
            <a:r>
              <a:rPr lang="en-US" dirty="0"/>
              <a:t>Michael D’Acampora</a:t>
            </a:r>
          </a:p>
        </p:txBody>
      </p:sp>
    </p:spTree>
    <p:extLst>
      <p:ext uri="{BB962C8B-B14F-4D97-AF65-F5344CB8AC3E}">
        <p14:creationId xmlns:p14="http://schemas.microsoft.com/office/powerpoint/2010/main" val="421430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/>
          </a:bodyPr>
          <a:lstStyle/>
          <a:p>
            <a:r>
              <a:rPr lang="en-US" dirty="0"/>
              <a:t>Perform detailed data exploration (EDA) to understand characteristics of the data</a:t>
            </a:r>
          </a:p>
          <a:p>
            <a:r>
              <a:rPr lang="en-US" dirty="0"/>
              <a:t>Build multiple binary classification models using both parametric and non-parametric techniques</a:t>
            </a:r>
          </a:p>
          <a:p>
            <a:r>
              <a:rPr lang="en-US" dirty="0"/>
              <a:t>Use each model to predict against the same test dataset</a:t>
            </a:r>
          </a:p>
          <a:p>
            <a:r>
              <a:rPr lang="en-US" dirty="0"/>
              <a:t>Compare models based on performance criteria </a:t>
            </a:r>
          </a:p>
          <a:p>
            <a:r>
              <a:rPr lang="en-US" dirty="0"/>
              <a:t>Select the best performing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64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/>
          </a:bodyPr>
          <a:lstStyle/>
          <a:p>
            <a:r>
              <a:rPr lang="en-US" dirty="0"/>
              <a:t>Our Data Set: UCI default credit card clients dataset </a:t>
            </a:r>
          </a:p>
          <a:p>
            <a:r>
              <a:rPr lang="en-US" dirty="0"/>
              <a:t>Consists of monthly payment data of credit cardholders with a binary response variable (Default=1, non-default=0)</a:t>
            </a:r>
          </a:p>
          <a:p>
            <a:r>
              <a:rPr lang="en-US" dirty="0"/>
              <a:t>Data set contained 30,000 total observations of which 6,636 observations with Default = 1 (28%)</a:t>
            </a:r>
          </a:p>
          <a:p>
            <a:r>
              <a:rPr lang="en-US" dirty="0"/>
              <a:t>Need to recode some of the predictors into dummy variables</a:t>
            </a:r>
          </a:p>
          <a:p>
            <a:r>
              <a:rPr lang="en-US" dirty="0"/>
              <a:t>Some predictors were highly correlated and we found it necessary to create new predictors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28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F1-score</a:t>
            </a:r>
            <a:r>
              <a:rPr lang="en-US" dirty="0"/>
              <a:t>: the harmonic mean of precision and recall</a:t>
            </a:r>
          </a:p>
          <a:p>
            <a:r>
              <a:rPr lang="en-US" b="1" dirty="0"/>
              <a:t>Kappa Statistic</a:t>
            </a:r>
            <a:r>
              <a:rPr lang="en-US" dirty="0"/>
              <a:t>: a measure of accuracy that takes into consideration possible accuracy generated due to chance</a:t>
            </a:r>
          </a:p>
          <a:p>
            <a:r>
              <a:rPr lang="en-US" b="1" dirty="0"/>
              <a:t>Sensitivity</a:t>
            </a:r>
            <a:r>
              <a:rPr lang="en-US" dirty="0"/>
              <a:t>: rate of event of interest (default) is correctly predicted within the sample</a:t>
            </a:r>
          </a:p>
          <a:p>
            <a:r>
              <a:rPr lang="en-US" b="1" dirty="0"/>
              <a:t>Specificity</a:t>
            </a:r>
            <a:r>
              <a:rPr lang="en-US" dirty="0"/>
              <a:t>: rate of non-event (not default) is correctly predicted within the sample</a:t>
            </a:r>
          </a:p>
          <a:p>
            <a:r>
              <a:rPr lang="en-US" b="1" dirty="0"/>
              <a:t>Balanced Accuracy</a:t>
            </a:r>
            <a:r>
              <a:rPr lang="en-US" dirty="0"/>
              <a:t>: (Sensitivity + Specificity) ÷ 2</a:t>
            </a:r>
          </a:p>
          <a:p>
            <a:r>
              <a:rPr lang="en-US" b="1" dirty="0"/>
              <a:t>False Positive Rate</a:t>
            </a:r>
            <a:r>
              <a:rPr lang="en-US" dirty="0"/>
              <a:t>: (1 – Specificity)</a:t>
            </a:r>
          </a:p>
          <a:p>
            <a:r>
              <a:rPr lang="en-US" b="1" dirty="0"/>
              <a:t>Youden’s Index</a:t>
            </a:r>
            <a:r>
              <a:rPr lang="en-US" dirty="0"/>
              <a:t>: evaluates the ability of a classifier to avoid misclassification</a:t>
            </a:r>
          </a:p>
        </p:txBody>
      </p:sp>
    </p:spTree>
    <p:extLst>
      <p:ext uri="{BB962C8B-B14F-4D97-AF65-F5344CB8AC3E}">
        <p14:creationId xmlns:p14="http://schemas.microsoft.com/office/powerpoint/2010/main" val="93463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selected to build the following models:</a:t>
            </a:r>
          </a:p>
          <a:p>
            <a:endParaRPr lang="en-US" dirty="0"/>
          </a:p>
          <a:p>
            <a:pPr lvl="1"/>
            <a:r>
              <a:rPr lang="en-US" dirty="0"/>
              <a:t>Binary Logistic Regression</a:t>
            </a:r>
          </a:p>
          <a:p>
            <a:pPr lvl="1"/>
            <a:r>
              <a:rPr lang="en-US" dirty="0"/>
              <a:t>Ridge and Lasso Regularization</a:t>
            </a:r>
          </a:p>
          <a:p>
            <a:pPr lvl="1"/>
            <a:r>
              <a:rPr lang="en-US" dirty="0"/>
              <a:t>Decision Tree</a:t>
            </a:r>
          </a:p>
          <a:p>
            <a:pPr lvl="1"/>
            <a:r>
              <a:rPr lang="en-US" dirty="0"/>
              <a:t>Neural Network</a:t>
            </a:r>
          </a:p>
          <a:p>
            <a:pPr marL="27432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14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Logistic Regression</a:t>
            </a:r>
          </a:p>
        </p:txBody>
      </p:sp>
      <p:pic>
        <p:nvPicPr>
          <p:cNvPr id="4" name="Image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43000" y="2362200"/>
            <a:ext cx="5953125" cy="32623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0833" y="1600200"/>
            <a:ext cx="6295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Balanced Accuracy = 0.774     False-Positive Rate = 0.177</a:t>
            </a:r>
          </a:p>
        </p:txBody>
      </p:sp>
    </p:spTree>
    <p:extLst>
      <p:ext uri="{BB962C8B-B14F-4D97-AF65-F5344CB8AC3E}">
        <p14:creationId xmlns:p14="http://schemas.microsoft.com/office/powerpoint/2010/main" val="333263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Ridge-Lasso Regularization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600200"/>
            <a:ext cx="73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Ridge  - Balanced Accuracy = 0.766     False-Positive Rate = 0.182</a:t>
            </a:r>
          </a:p>
          <a:p>
            <a:r>
              <a:rPr lang="en-US" dirty="0"/>
              <a:t>Lasso  - Balanced Accuracy = 0.78       False-Positive Rate = 0.182</a:t>
            </a:r>
          </a:p>
        </p:txBody>
      </p:sp>
      <p:pic>
        <p:nvPicPr>
          <p:cNvPr id="6" name="Image3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828800" y="2819400"/>
            <a:ext cx="4554496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74325" y="2557789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Ridge Optimal </a:t>
            </a:r>
            <a:r>
              <a:rPr lang="el-GR" sz="1000" b="1" dirty="0"/>
              <a:t>λ</a:t>
            </a:r>
            <a:endParaRPr lang="en-US" sz="1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724400" y="2557789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Lasso Optimal </a:t>
            </a:r>
            <a:r>
              <a:rPr lang="el-GR" sz="1000" b="1" dirty="0"/>
              <a:t>λ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17827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833" y="1600200"/>
            <a:ext cx="6295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Balanced Accuracy = 0.764     False-Positive Rate = 0.163</a:t>
            </a:r>
          </a:p>
        </p:txBody>
      </p:sp>
      <p:pic>
        <p:nvPicPr>
          <p:cNvPr id="6" name="Image5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828800" y="2504303"/>
            <a:ext cx="487934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4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833" y="1600200"/>
            <a:ext cx="6295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Balanced Accuracy = 0.757     False-Positive Rate = 0.16</a:t>
            </a:r>
          </a:p>
        </p:txBody>
      </p:sp>
      <p:pic>
        <p:nvPicPr>
          <p:cNvPr id="6" name="Image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7400" y="2667000"/>
            <a:ext cx="4222115" cy="2514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90800" y="2311613"/>
            <a:ext cx="1918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Neural Network Plot</a:t>
            </a:r>
          </a:p>
        </p:txBody>
      </p:sp>
    </p:spTree>
    <p:extLst>
      <p:ext uri="{BB962C8B-B14F-4D97-AF65-F5344CB8AC3E}">
        <p14:creationId xmlns:p14="http://schemas.microsoft.com/office/powerpoint/2010/main" val="4202336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pic>
        <p:nvPicPr>
          <p:cNvPr id="7" name="Image9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828800" y="2362200"/>
            <a:ext cx="3996055" cy="1713230"/>
          </a:xfrm>
          <a:prstGeom prst="rect">
            <a:avLst/>
          </a:prstGeom>
        </p:spPr>
      </p:pic>
      <p:pic>
        <p:nvPicPr>
          <p:cNvPr id="8" name="Image10"/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087197" y="4267200"/>
            <a:ext cx="3769360" cy="1672813"/>
          </a:xfrm>
          <a:prstGeom prst="rect">
            <a:avLst/>
          </a:prstGeom>
        </p:spPr>
      </p:pic>
      <p:pic>
        <p:nvPicPr>
          <p:cNvPr id="9" name="Image11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4953000" y="4285027"/>
            <a:ext cx="1960957" cy="16371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1524000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Confusion Matrix for each model against the test dataset</a:t>
            </a:r>
          </a:p>
        </p:txBody>
      </p:sp>
    </p:spTree>
    <p:extLst>
      <p:ext uri="{BB962C8B-B14F-4D97-AF65-F5344CB8AC3E}">
        <p14:creationId xmlns:p14="http://schemas.microsoft.com/office/powerpoint/2010/main" val="122854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/>
          </a:bodyPr>
          <a:lstStyle/>
          <a:p>
            <a:r>
              <a:rPr lang="en-US" dirty="0"/>
              <a:t>Neural Network model was the best performing model</a:t>
            </a:r>
          </a:p>
          <a:p>
            <a:pPr lvl="1"/>
            <a:r>
              <a:rPr lang="en-US" dirty="0"/>
              <a:t>Decision Tree model was the second best performing model</a:t>
            </a:r>
          </a:p>
          <a:p>
            <a:r>
              <a:rPr lang="en-US" dirty="0"/>
              <a:t>Non-parametric models outperformed parametric models</a:t>
            </a:r>
          </a:p>
          <a:p>
            <a:r>
              <a:rPr lang="en-US" dirty="0"/>
              <a:t>Noted concerns with being able to apply the model outside of the dataset due to some following reasons:</a:t>
            </a:r>
          </a:p>
          <a:p>
            <a:pPr lvl="1"/>
            <a:r>
              <a:rPr lang="en-US" dirty="0"/>
              <a:t>Data set was unbalanced (28%=Default/72%=Not Default)</a:t>
            </a:r>
          </a:p>
          <a:p>
            <a:pPr lvl="1"/>
            <a:r>
              <a:rPr lang="en-US" dirty="0"/>
              <a:t>Data set was not representative of wider population</a:t>
            </a:r>
            <a:br>
              <a:rPr lang="en-US" dirty="0"/>
            </a:br>
            <a:r>
              <a:rPr lang="en-US" dirty="0"/>
              <a:t> (Mostly young Educated customers)</a:t>
            </a:r>
          </a:p>
          <a:p>
            <a:r>
              <a:rPr lang="en-US" dirty="0"/>
              <a:t>Further research and exploration in trying to predict time prior to event (Default) using survival model</a:t>
            </a:r>
          </a:p>
          <a:p>
            <a:pPr lvl="1"/>
            <a:r>
              <a:rPr lang="en-US" dirty="0"/>
              <a:t>we would need additional data</a:t>
            </a:r>
          </a:p>
        </p:txBody>
      </p:sp>
    </p:spTree>
    <p:extLst>
      <p:ext uri="{BB962C8B-B14F-4D97-AF65-F5344CB8AC3E}">
        <p14:creationId xmlns:p14="http://schemas.microsoft.com/office/powerpoint/2010/main" val="21081930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148</TotalTime>
  <Words>422</Words>
  <Application>Microsoft Office PowerPoint</Application>
  <PresentationFormat>On-screen Show (4:3)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Clarity</vt:lpstr>
      <vt:lpstr>Predicting credit card default</vt:lpstr>
      <vt:lpstr>Objectives</vt:lpstr>
      <vt:lpstr>Team</vt:lpstr>
      <vt:lpstr>Methodology</vt:lpstr>
      <vt:lpstr>Data Exploration</vt:lpstr>
      <vt:lpstr>Model Selection Criteria</vt:lpstr>
      <vt:lpstr>Models Design</vt:lpstr>
      <vt:lpstr>Binary Logistic Regression</vt:lpstr>
      <vt:lpstr>Ridge-Lasso Regularization</vt:lpstr>
      <vt:lpstr>Decision Tree</vt:lpstr>
      <vt:lpstr>Neural Networks</vt:lpstr>
      <vt:lpstr>Model Comparison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Default  on Credit Cards</dc:title>
  <dc:creator>Valerie Briot</dc:creator>
  <cp:lastModifiedBy>Valerie Briot</cp:lastModifiedBy>
  <cp:revision>20</cp:revision>
  <dcterms:created xsi:type="dcterms:W3CDTF">2018-05-24T14:04:22Z</dcterms:created>
  <dcterms:modified xsi:type="dcterms:W3CDTF">2018-05-25T00:58:51Z</dcterms:modified>
</cp:coreProperties>
</file>